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Merriweather Bold" panose="020B0604020202020204" charset="0"/>
      <p:regular r:id="rId13"/>
    </p:embeddedFont>
    <p:embeddedFont>
      <p:font typeface="Open Sans" panose="020F0502020204030204" pitchFamily="34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5DA95A-A3EB-45DD-8054-690FE69B4D51}" v="18" dt="2026-06-07T13:10:42.3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028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5.jp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Medical corridor blurred">
            <a:extLst>
              <a:ext uri="{FF2B5EF4-FFF2-40B4-BE49-F238E27FC236}">
                <a16:creationId xmlns:a16="http://schemas.microsoft.com/office/drawing/2014/main" id="{252C1088-B701-8FAB-7A2F-15C160042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1591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Customer Behavior &amp; Retail Analytics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14489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Transforming Retail Data into Actionable Business Insights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by:</a:t>
            </a: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Aman  |  </a:t>
            </a:r>
            <a:r>
              <a:rPr lang="en-US" sz="11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Stack:</a:t>
            </a: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Python · Pandas · MySQL ·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Textured background">
            <a:extLst>
              <a:ext uri="{FF2B5EF4-FFF2-40B4-BE49-F238E27FC236}">
                <a16:creationId xmlns:a16="http://schemas.microsoft.com/office/drawing/2014/main" id="{3B95F3EE-6AA5-6037-4809-2F865FA41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8379" y="411882"/>
            <a:ext cx="4738241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u="sng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Why Customer Behavior Analytics Matters</a:t>
            </a:r>
            <a:endParaRPr lang="en-US" sz="2700" u="sng" dirty="0"/>
          </a:p>
        </p:txBody>
      </p:sp>
      <p:sp>
        <p:nvSpPr>
          <p:cNvPr id="4" name="Text 1"/>
          <p:cNvSpPr/>
          <p:nvPr/>
        </p:nvSpPr>
        <p:spPr>
          <a:xfrm>
            <a:off x="488379" y="1490067"/>
            <a:ext cx="473824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Retail organizations generate massive transaction volumes daily — yet most struggle to extract meaningful signals from the noise. Analytics bridges that gap.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88379" y="2308920"/>
            <a:ext cx="2300436" cy="1253356"/>
          </a:xfrm>
          <a:prstGeom prst="roundRect">
            <a:avLst>
              <a:gd name="adj" fmla="val 4676"/>
            </a:avLst>
          </a:prstGeom>
          <a:solidFill>
            <a:srgbClr val="FFD8CC"/>
          </a:solidFill>
          <a:ln w="4763">
            <a:solidFill>
              <a:srgbClr val="E5BE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2668" y="245320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Personalization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2668" y="2753618"/>
            <a:ext cx="2011859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Data-driven insights enable tailored marketing and customer experiences at scale.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6184" y="2308920"/>
            <a:ext cx="2300436" cy="1253356"/>
          </a:xfrm>
          <a:prstGeom prst="roundRect">
            <a:avLst>
              <a:gd name="adj" fmla="val 4676"/>
            </a:avLst>
          </a:prstGeom>
          <a:solidFill>
            <a:srgbClr val="FFD8CC"/>
          </a:solidFill>
          <a:ln w="4763">
            <a:solidFill>
              <a:srgbClr val="E5BE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70473" y="2453208"/>
            <a:ext cx="192650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Revenue Optimization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0473" y="2753618"/>
            <a:ext cx="2011859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high-value segments and spending triggers to maximize lifetime value.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8379" y="3699644"/>
            <a:ext cx="4738241" cy="1031900"/>
          </a:xfrm>
          <a:prstGeom prst="roundRect">
            <a:avLst>
              <a:gd name="adj" fmla="val 5680"/>
            </a:avLst>
          </a:prstGeom>
          <a:solidFill>
            <a:srgbClr val="FFD8CC"/>
          </a:solidFill>
          <a:ln w="4763">
            <a:solidFill>
              <a:srgbClr val="E5BE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2668" y="3843933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Retention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2668" y="4144342"/>
            <a:ext cx="44496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 churn signals and subscription impact to improve customer loyalty.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Medical corridor blurred">
            <a:extLst>
              <a:ext uri="{FF2B5EF4-FFF2-40B4-BE49-F238E27FC236}">
                <a16:creationId xmlns:a16="http://schemas.microsoft.com/office/drawing/2014/main" id="{1541224B-9C0C-6566-12E9-9ABA2CF9B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388" y="0"/>
            <a:ext cx="9186388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65162" y="387772"/>
            <a:ext cx="4354116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u="sng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The Business Challenge</a:t>
            </a:r>
            <a:endParaRPr lang="en-US" sz="2600" u="sng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62" y="1392287"/>
            <a:ext cx="5225430" cy="29610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9502" y="1114499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19502" y="1446758"/>
            <a:ext cx="2664023" cy="102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Retail organizations collect vast volumes of transactional data but rarely convert it into actionable strategy. Without structured analysis, opportunities for revenue growth and customer retention go undiscovered.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19502" y="2601218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Project Goal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19502" y="2933477"/>
            <a:ext cx="2664023" cy="1778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purchasing behavior and spending patterns </a:t>
            </a:r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revenue-driving customer segments</a:t>
            </a:r>
            <a:endParaRPr lang="en-US" sz="10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 subscription and shipping effectiveness</a:t>
            </a:r>
            <a:endParaRPr lang="en-US" sz="1000" dirty="0"/>
          </a:p>
          <a:p>
            <a:pPr marL="342900" indent="-3429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interactive BI dashboards for decision-makers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Textured background">
            <a:extLst>
              <a:ext uri="{FF2B5EF4-FFF2-40B4-BE49-F238E27FC236}">
                <a16:creationId xmlns:a16="http://schemas.microsoft.com/office/drawing/2014/main" id="{02119B9E-AF3B-EA91-EDD7-4B766D824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349" y="371177"/>
            <a:ext cx="37244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u="sng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Project Objectives</a:t>
            </a:r>
            <a:endParaRPr lang="en-US" sz="2550" u="sng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349" y="1020514"/>
            <a:ext cx="261342" cy="2613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349" y="143239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Purchase Behavior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57349" y="1708770"/>
            <a:ext cx="403934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transaction frequency, basket size, and category preferences.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7233" y="1020514"/>
            <a:ext cx="261342" cy="2613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7233" y="143239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Spending Patterns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647233" y="1708770"/>
            <a:ext cx="403941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 demographic and behavioral drivers of high-value purchases.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349" y="2351410"/>
            <a:ext cx="261342" cy="2613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349" y="2763292"/>
            <a:ext cx="2111350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Subscription Performance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57349" y="3039666"/>
            <a:ext cx="403934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 the revenue impact of subscription status on customer spend. 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7233" y="2351410"/>
            <a:ext cx="261342" cy="2613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47233" y="2763292"/>
            <a:ext cx="1961034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Customer Segmentation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647233" y="3039666"/>
            <a:ext cx="403941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Classify customers by age, behavior, and loyalty for targeted strategy.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349" y="3682305"/>
            <a:ext cx="261342" cy="2613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7349" y="4094187"/>
            <a:ext cx="171933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Shipping Preferences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457349" y="4370561"/>
            <a:ext cx="403934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Study how shipping type correlates with purchase value and satisfaction.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47233" y="3682305"/>
            <a:ext cx="261342" cy="26134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47233" y="4094187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BI Dashboards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647233" y="4370561"/>
            <a:ext cx="403941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 interactive Power BI reports for real-time business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Textured background">
            <a:extLst>
              <a:ext uri="{FF2B5EF4-FFF2-40B4-BE49-F238E27FC236}">
                <a16:creationId xmlns:a16="http://schemas.microsoft.com/office/drawing/2014/main" id="{80BD9558-4EDE-BB4A-0065-63D131D10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96119" y="58556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u="sng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Dataset at a Glance</a:t>
            </a:r>
            <a:endParaRPr lang="en-US" sz="2750" u="sng" dirty="0"/>
          </a:p>
        </p:txBody>
      </p:sp>
      <p:sp>
        <p:nvSpPr>
          <p:cNvPr id="3" name="Text 1"/>
          <p:cNvSpPr/>
          <p:nvPr/>
        </p:nvSpPr>
        <p:spPr>
          <a:xfrm>
            <a:off x="496119" y="138291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909637" y="202785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Purchase Records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334369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Real-world retail transaction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72433" y="138291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18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685952" y="202785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Features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2433" y="233436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Demographics, behavior &amp; transaction attributes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48747" y="138291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37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462266" y="202785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8747" y="233436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Identified and resolved during preprocessing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08922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Key Attributes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119" y="3452440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 &amp; Gender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Category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Purchase Amount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Subscription Status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49701" y="308922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Behavioral Features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49701" y="3452440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Shipping Type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Rating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Previous Purchases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Tenure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extured background">
            <a:extLst>
              <a:ext uri="{FF2B5EF4-FFF2-40B4-BE49-F238E27FC236}">
                <a16:creationId xmlns:a16="http://schemas.microsoft.com/office/drawing/2014/main" id="{1C849912-66B9-60BB-459E-882F14647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903759" y="343942"/>
            <a:ext cx="4641875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u="sng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End-to-End Analytics Workflow</a:t>
            </a:r>
            <a:endParaRPr lang="en-US" sz="2050" u="sng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1299418" y="835670"/>
            <a:ext cx="6545089" cy="35764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62501" y="2511467"/>
            <a:ext cx="1516546" cy="20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 Prep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992037" y="2488198"/>
            <a:ext cx="1516546" cy="20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121287" y="2495649"/>
            <a:ext cx="1516546" cy="206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Insights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03759" y="4370328"/>
            <a:ext cx="7336408" cy="429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structured, reproducible pipeline ensures data quality at every stage — from raw CSV to executive-ready dashboards. Each phase builds on the last, maintaining traceability and analytical rigor throughout the project.</a:t>
            </a:r>
            <a:endParaRPr lang="en-US" sz="10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extured background">
            <a:extLst>
              <a:ext uri="{FF2B5EF4-FFF2-40B4-BE49-F238E27FC236}">
                <a16:creationId xmlns:a16="http://schemas.microsoft.com/office/drawing/2014/main" id="{C1ABC227-E9CB-479A-3948-D65A0776D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74489" y="346770"/>
            <a:ext cx="5422850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u="sng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 Engineering: Python &amp; MySQL</a:t>
            </a:r>
            <a:endParaRPr lang="en-US" sz="2200" u="sng" dirty="0"/>
          </a:p>
        </p:txBody>
      </p:sp>
      <p:sp>
        <p:nvSpPr>
          <p:cNvPr id="3" name="Text 1"/>
          <p:cNvSpPr/>
          <p:nvPr/>
        </p:nvSpPr>
        <p:spPr>
          <a:xfrm>
            <a:off x="674489" y="1886471"/>
            <a:ext cx="199675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Python Preprocessing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74489" y="2152948"/>
            <a:ext cx="3759622" cy="7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Loaded and profiled raw data using </a:t>
            </a:r>
            <a:r>
              <a:rPr lang="en-US" sz="8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Pandas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Handled missing values and outliers systematically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Engineered features: Age Groups, Spending Tiers, Frequency Bands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Validated data types and enforced quality checks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74489" y="2986832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MySQL Integration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4489" y="3253308"/>
            <a:ext cx="3759622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Designed normalized table schema for retail data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Imported cleaned dataset via </a:t>
            </a:r>
            <a:r>
              <a:rPr lang="en-US" sz="8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SQLAlchemy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Executed analytical queries for segmentation and revenue</a:t>
            </a:r>
            <a:endParaRPr lang="en-US" sz="8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extured background">
            <a:extLst>
              <a:ext uri="{FF2B5EF4-FFF2-40B4-BE49-F238E27FC236}">
                <a16:creationId xmlns:a16="http://schemas.microsoft.com/office/drawing/2014/main" id="{B7102C37-0D40-504E-742A-F613501DC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72901" y="378544"/>
            <a:ext cx="7000577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u="sng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SQL Analytics: Key Analyses Performed</a:t>
            </a:r>
            <a:endParaRPr lang="en-US" sz="2650" u="sng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01" y="1138907"/>
            <a:ext cx="3934271" cy="28319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1590" y="1122759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Analyses Conducted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741590" y="1462608"/>
            <a:ext cx="3934271" cy="2291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by Gender</a:t>
            </a: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Female customers led in total spend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by Age Group</a:t>
            </a: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35–44 segment drove highest value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Subscription Impact</a:t>
            </a: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Subscribers spent significantly more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Shipping Analysis</a:t>
            </a: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Express shipping correlated with higher AOV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Top-Rated Products</a:t>
            </a: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High ratings drove stronger engagement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41590" y="3898702"/>
            <a:ext cx="3934271" cy="721370"/>
          </a:xfrm>
          <a:prstGeom prst="roundRect">
            <a:avLst>
              <a:gd name="adj" fmla="val 7867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651" y="4106391"/>
            <a:ext cx="168846" cy="1350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80558" y="4048274"/>
            <a:ext cx="336024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queries optimized for readability and reusable in production BI pipelines.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Textured background">
            <a:extLst>
              <a:ext uri="{FF2B5EF4-FFF2-40B4-BE49-F238E27FC236}">
                <a16:creationId xmlns:a16="http://schemas.microsoft.com/office/drawing/2014/main" id="{8EABFB67-B9B2-334D-777D-EC75065B1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871" y="355476"/>
            <a:ext cx="4831259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u="sng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Interactive Power BI Dashboard</a:t>
            </a:r>
            <a:endParaRPr lang="en-US" sz="2450" u="sng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583" y="1313185"/>
            <a:ext cx="2963569" cy="9275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5227" y="1453679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Revenue KPIs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25227" y="1718370"/>
            <a:ext cx="266903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sales, average order value, and revenue trends with dynamic period filters.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583" y="2417276"/>
            <a:ext cx="2963569" cy="7366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5227" y="2493690"/>
            <a:ext cx="189398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Customer Segmentation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583" y="3274999"/>
            <a:ext cx="2963569" cy="7366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5227" y="3342754"/>
            <a:ext cx="165906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Product Performance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582" y="4163474"/>
            <a:ext cx="2963569" cy="7366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5227" y="4191819"/>
            <a:ext cx="189778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Shipping &amp; Subscription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25228" y="4456508"/>
            <a:ext cx="2390476" cy="40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9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C797717-2166-61E7-4399-B7ACC0427C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8795" y="28220"/>
            <a:ext cx="5555205" cy="508706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6583BB0-A497-E34D-B774-8CBD43DAC57F}"/>
              </a:ext>
            </a:extLst>
          </p:cNvPr>
          <p:cNvSpPr txBox="1"/>
          <p:nvPr/>
        </p:nvSpPr>
        <p:spPr>
          <a:xfrm>
            <a:off x="546505" y="3548755"/>
            <a:ext cx="2469199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Category-level revenue, review ratings, and purchase frequency metrics.</a:t>
            </a:r>
            <a:endParaRPr lang="en-US" sz="950" dirty="0"/>
          </a:p>
          <a:p>
            <a:endParaRPr lang="en-IN" sz="9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9D483D-1FB7-74C5-496B-6F115EA2766F}"/>
              </a:ext>
            </a:extLst>
          </p:cNvPr>
          <p:cNvSpPr txBox="1"/>
          <p:nvPr/>
        </p:nvSpPr>
        <p:spPr>
          <a:xfrm>
            <a:off x="550627" y="2685288"/>
            <a:ext cx="2717480" cy="44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6000"/>
              </a:lnSpc>
            </a:pPr>
            <a:r>
              <a:rPr lang="en-US" sz="9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 breakdown by age, gender, subscription status, and loyalty tier.</a:t>
            </a:r>
            <a:endParaRPr lang="en-US" sz="9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B0DB8E-0CF2-616E-5EC6-201236536EB6}"/>
              </a:ext>
            </a:extLst>
          </p:cNvPr>
          <p:cNvSpPr txBox="1"/>
          <p:nvPr/>
        </p:nvSpPr>
        <p:spPr>
          <a:xfrm>
            <a:off x="546505" y="4369184"/>
            <a:ext cx="2608480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filters to explore how shipping type and subscription drive spend.</a:t>
            </a:r>
            <a:endParaRPr lang="en-US" sz="950" dirty="0"/>
          </a:p>
          <a:p>
            <a:endParaRPr lang="en-IN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Textured background">
            <a:extLst>
              <a:ext uri="{FF2B5EF4-FFF2-40B4-BE49-F238E27FC236}">
                <a16:creationId xmlns:a16="http://schemas.microsoft.com/office/drawing/2014/main" id="{75EAA695-8AF8-D75B-E534-7D6BA1858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96119" y="570309"/>
            <a:ext cx="615270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u="sng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Key Insights &amp; Project Outcomes</a:t>
            </a:r>
            <a:endParaRPr lang="en-US" sz="2750" u="sng" dirty="0"/>
          </a:p>
        </p:txBody>
      </p:sp>
      <p:sp>
        <p:nvSpPr>
          <p:cNvPr id="3" name="Text 1"/>
          <p:cNvSpPr/>
          <p:nvPr/>
        </p:nvSpPr>
        <p:spPr>
          <a:xfrm>
            <a:off x="496119" y="136765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u="sng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Major Findings</a:t>
            </a:r>
            <a:endParaRPr lang="en-US" sz="1350" u="sng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1755651"/>
            <a:ext cx="212601" cy="2126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1748582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Female customers generated </a:t>
            </a:r>
            <a:r>
              <a:rPr lang="en-US" sz="11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slightly higher total revenue</a:t>
            </a: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than male counterparts. 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2492797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2485727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Subscribers spent </a:t>
            </a:r>
            <a:r>
              <a:rPr lang="en-US" sz="11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significantly more</a:t>
            </a: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validating subscription model ROI.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3229942"/>
            <a:ext cx="212601" cy="2126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56816" y="3222873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 shipping customers showed </a:t>
            </a:r>
            <a:r>
              <a:rPr lang="en-US" sz="11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higher average purchase values</a:t>
            </a: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3967088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6816" y="3960019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Loyal repeat customers contributed a </a:t>
            </a:r>
            <a:r>
              <a:rPr lang="en-US" sz="11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major share of total revenue</a:t>
            </a: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4647605" y="1225897"/>
            <a:ext cx="4107135" cy="3347219"/>
          </a:xfrm>
          <a:prstGeom prst="roundRect">
            <a:avLst>
              <a:gd name="adj" fmla="val 3049"/>
            </a:avLst>
          </a:prstGeom>
          <a:solidFill>
            <a:srgbClr val="FFAD94"/>
          </a:solidFill>
          <a:ln/>
        </p:spPr>
      </p:sp>
      <p:sp>
        <p:nvSpPr>
          <p:cNvPr id="13" name="Text 7"/>
          <p:cNvSpPr/>
          <p:nvPr/>
        </p:nvSpPr>
        <p:spPr>
          <a:xfrm>
            <a:off x="4789363" y="136765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Project Outcomes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789363" y="1730871"/>
            <a:ext cx="3823618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Cleaned and transformed 3,900+ records with Python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structured MySQL database with analytical schema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Delivered interactive Power BI dashboard with live filters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Generated actionable, data-backed business recommendations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789363" y="3626718"/>
            <a:ext cx="630659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FFAD94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879181" y="3673971"/>
            <a:ext cx="90822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5490865" y="3626718"/>
            <a:ext cx="554459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FFAD94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580683" y="3673971"/>
            <a:ext cx="83202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MYSQL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6116166" y="3626718"/>
            <a:ext cx="707901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FFAD94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205984" y="3673971"/>
            <a:ext cx="98546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BI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6894909" y="3626718"/>
            <a:ext cx="595536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FFAD94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984727" y="3673971"/>
            <a:ext cx="87310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603</Words>
  <Application>Microsoft Office PowerPoint</Application>
  <PresentationFormat>On-screen Show (16:9)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Merriweather Bold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infinix</dc:creator>
  <cp:lastModifiedBy>ab cd</cp:lastModifiedBy>
  <cp:revision>3</cp:revision>
  <dcterms:created xsi:type="dcterms:W3CDTF">2026-06-07T12:48:31Z</dcterms:created>
  <dcterms:modified xsi:type="dcterms:W3CDTF">2026-06-07T13:14:04Z</dcterms:modified>
</cp:coreProperties>
</file>